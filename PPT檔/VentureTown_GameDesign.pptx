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5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18320" cy="411480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E2C1C"/>
                </a:solidFill>
                <a:latin typeface="Microsoft JhengHei"/>
              </a:defRPr>
            </a:pPr>
            <a:r>
              <a:t>🏘️ 創業小鎮 VentureTown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48B3B"/>
                </a:solidFill>
                <a:latin typeface="Microsoft JhengHei"/>
              </a:defRPr>
            </a:pPr>
            <a:r>
              <a:t>網頁策略經營遊戲  ·  遊戲設計概覽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E2C1C"/>
                </a:solidFill>
                <a:latin typeface="Microsoft JhengHei"/>
              </a:defRPr>
            </a:pPr>
            <a:r>
              <a:t>佈局設施 → 投入資源 → 轉換增值 → 達成目標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遊戲概述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502920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8B3B"/>
                </a:solidFill>
                <a:latin typeface="Microsoft JhengHei"/>
              </a:defRPr>
            </a:pPr>
            <a:r>
              <a:t>🎯 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9"/>
              </a:spcAft>
              <a:defRPr sz="1700" b="0">
                <a:solidFill>
                  <a:srgbClr val="3E2C1C"/>
                </a:solidFill>
                <a:latin typeface="Microsoft JhengHei"/>
              </a:defRPr>
            </a:pPr>
            <a:r>
              <a:t>4×4 格子上佈局設施</a:t>
            </a:r>
          </a:p>
          <a:p>
            <a:pPr>
              <a:spcAft>
                <a:spcPts val="509"/>
              </a:spcAft>
              <a:defRPr sz="1700" b="0">
                <a:solidFill>
                  <a:srgbClr val="3E2C1C"/>
                </a:solidFill>
                <a:latin typeface="Microsoft JhengHei"/>
              </a:defRPr>
            </a:pPr>
            <a:r>
              <a:t>投入資源沿設施轉換增值</a:t>
            </a:r>
          </a:p>
          <a:p>
            <a:pPr>
              <a:spcAft>
                <a:spcPts val="509"/>
              </a:spcAft>
              <a:defRPr sz="1700" b="0">
                <a:solidFill>
                  <a:srgbClr val="3E2C1C"/>
                </a:solidFill>
                <a:latin typeface="Microsoft JhengHei"/>
              </a:defRPr>
            </a:pPr>
            <a:r>
              <a:t>累計收益 ≥ 目標即過關</a:t>
            </a:r>
          </a:p>
          <a:p>
            <a:pPr>
              <a:spcAft>
                <a:spcPts val="509"/>
              </a:spcAft>
              <a:defRPr sz="1700" b="0">
                <a:solidFill>
                  <a:srgbClr val="3E2C1C"/>
                </a:solidFill>
                <a:latin typeface="Microsoft JhengHei"/>
              </a:defRPr>
            </a:pPr>
            <a:r>
              <a:t>10 回合內未達標則失敗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74720" cy="502920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8B3B"/>
                </a:solidFill>
                <a:latin typeface="Microsoft JhengHei"/>
              </a:defRPr>
            </a:pPr>
            <a:r>
              <a:t>⏱️ 回合流程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9"/>
              </a:spcAft>
              <a:defRPr sz="1700" b="0">
                <a:solidFill>
                  <a:srgbClr val="3E2C1C"/>
                </a:solidFill>
                <a:latin typeface="Microsoft JhengHei"/>
              </a:defRPr>
            </a:pPr>
            <a:r>
              <a:t>每輪 10 回合</a:t>
            </a:r>
          </a:p>
          <a:p>
            <a:pPr>
              <a:spcAft>
                <a:spcPts val="509"/>
              </a:spcAft>
              <a:defRPr sz="1700" b="0">
                <a:solidFill>
                  <a:srgbClr val="3E2C1C"/>
                </a:solidFill>
                <a:latin typeface="Microsoft JhengHei"/>
              </a:defRPr>
            </a:pPr>
            <a:r>
              <a:t>每回合 2 選 1 行動</a:t>
            </a:r>
          </a:p>
          <a:p>
            <a:pPr>
              <a:spcAft>
                <a:spcPts val="509"/>
              </a:spcAft>
              <a:defRPr sz="1700" b="0">
                <a:solidFill>
                  <a:srgbClr val="3E2C1C"/>
                </a:solidFill>
                <a:latin typeface="Microsoft JhengHei"/>
              </a:defRPr>
            </a:pPr>
            <a:r>
              <a:t>放置 → 投入 → 轉換 → 收益</a:t>
            </a:r>
          </a:p>
          <a:p>
            <a:pPr>
              <a:spcAft>
                <a:spcPts val="509"/>
              </a:spcAft>
              <a:defRPr sz="1700" b="0">
                <a:solidFill>
                  <a:srgbClr val="3E2C1C"/>
                </a:solidFill>
                <a:latin typeface="Microsoft JhengHei"/>
              </a:defRPr>
            </a:pPr>
            <a:r>
              <a:t>每 3 回合觸發隨機事件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3566160" cy="502920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8B3B"/>
                </a:solidFill>
                <a:latin typeface="Microsoft JhengHei"/>
              </a:defRPr>
            </a:pPr>
            <a:r>
              <a:t>💰 4 種資源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9"/>
              </a:spcAft>
              <a:defRPr sz="1700" b="0">
                <a:solidFill>
                  <a:srgbClr val="3E2C1C"/>
                </a:solidFill>
                <a:latin typeface="Microsoft JhengHei"/>
              </a:defRPr>
            </a:pPr>
            <a:r>
              <a:t>💰 金錢 — 基礎 &amp; 收益形式</a:t>
            </a:r>
          </a:p>
          <a:p>
            <a:pPr>
              <a:spcAft>
                <a:spcPts val="509"/>
              </a:spcAft>
              <a:defRPr sz="1700" b="0">
                <a:solidFill>
                  <a:srgbClr val="3E2C1C"/>
                </a:solidFill>
                <a:latin typeface="Microsoft JhengHei"/>
              </a:defRPr>
            </a:pPr>
            <a:r>
              <a:t>🪨 原料 — 中間轉換材料</a:t>
            </a:r>
          </a:p>
          <a:p>
            <a:pPr>
              <a:spcAft>
                <a:spcPts val="509"/>
              </a:spcAft>
              <a:defRPr sz="1700" b="0">
                <a:solidFill>
                  <a:srgbClr val="3E2C1C"/>
                </a:solidFill>
                <a:latin typeface="Microsoft JhengHei"/>
              </a:defRPr>
            </a:pPr>
            <a:r>
              <a:t>📦 商品 — 可轉為金錢</a:t>
            </a:r>
          </a:p>
          <a:p>
            <a:pPr>
              <a:spcAft>
                <a:spcPts val="509"/>
              </a:spcAft>
              <a:defRPr sz="1700" b="0">
                <a:solidFill>
                  <a:srgbClr val="3E2C1C"/>
                </a:solidFill>
                <a:latin typeface="Microsoft JhengHei"/>
              </a:defRPr>
            </a:pPr>
            <a:r>
              <a:t>💎 鑽石 — 特殊×12 路線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核心循環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103120" cy="228600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1️⃣ 行動選擇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JhengHei"/>
              </a:defRPr>
            </a:pPr>
            <a:r>
              <a:t>2 選 1 行動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E2C1C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645920"/>
            <a:ext cx="2103120" cy="2286000"/>
          </a:xfrm>
          <a:prstGeom prst="roundRect">
            <a:avLst/>
          </a:prstGeom>
          <a:solidFill>
            <a:srgbClr val="4C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920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2️⃣ 放置設施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JhengHei"/>
              </a:defRPr>
            </a:pPr>
            <a:r>
              <a:t>手牌→格子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E2C1C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645920"/>
            <a:ext cx="2103120" cy="2286000"/>
          </a:xfrm>
          <a:prstGeom prst="roundRect">
            <a:avLst/>
          </a:prstGeom>
          <a:solidFill>
            <a:srgbClr val="D48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920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3️⃣ 投入資源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JhengHei"/>
              </a:defRPr>
            </a:pPr>
            <a:r>
              <a:t>選方向投入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E2C1C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59" y="1645920"/>
            <a:ext cx="2103120" cy="2286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59" y="1920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4️⃣ 設施轉換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799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JhengHei"/>
              </a:defRPr>
            </a:pPr>
            <a:r>
              <a:t>沿路增值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E2C1C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645920"/>
            <a:ext cx="2103120" cy="2286000"/>
          </a:xfrm>
          <a:prstGeom prst="round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1920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5️⃣ 收益結算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JhengHei"/>
              </a:defRPr>
            </a:pPr>
            <a:r>
              <a:t>差值=收益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572000"/>
            <a:ext cx="9418320" cy="164592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470916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8B3B"/>
                </a:solidFill>
                <a:latin typeface="Microsoft JhengHei"/>
              </a:defRPr>
            </a:pPr>
            <a:r>
              <a:t>收益 = 離開時金錢 − 進入時金錢(1)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30352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E2C1C"/>
                </a:solidFill>
                <a:latin typeface="Microsoft JhengHei"/>
              </a:defRPr>
            </a:pPr>
            <a:r>
              <a:t>資源值 1 進入 → 經設施轉換 → 增值後離開 → 差值即收益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設施系統 — 50 種設施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11612880" cy="164592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8B3B"/>
                </a:solidFill>
                <a:latin typeface="Microsoft JhengHei"/>
              </a:defRPr>
            </a:pPr>
            <a:r>
              <a:t>🔧 基礎轉換鏈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417320" cy="86868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💰金錢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E2C1C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1828800"/>
            <a:ext cx="1417320" cy="868680"/>
          </a:xfrm>
          <a:prstGeom prst="roundRect">
            <a:avLst/>
          </a:prstGeom>
          <a:solidFill>
            <a:srgbClr val="4C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1874519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⛏️原料廠</a:t>
            </a:r>
            <a:br/>
            <a:r>
              <a:t>+1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E2C1C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828800"/>
            <a:ext cx="1417320" cy="868680"/>
          </a:xfrm>
          <a:prstGeom prst="roundRect">
            <a:avLst/>
          </a:prstGeom>
          <a:solidFill>
            <a:srgbClr val="4C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874519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🔩精煉廠</a:t>
            </a:r>
            <a:br/>
            <a:r>
              <a:t>+2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E2C1C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1828800"/>
            <a:ext cx="1417320" cy="868680"/>
          </a:xfrm>
          <a:prstGeom prst="roundRect">
            <a:avLst/>
          </a:prstGeom>
          <a:solidFill>
            <a:srgbClr val="D48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1874519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🏭工廠</a:t>
            </a:r>
            <a:br/>
            <a:r>
              <a:t>+1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E2C1C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828800"/>
            <a:ext cx="1417320" cy="868680"/>
          </a:xfrm>
          <a:prstGeom prst="roundRect">
            <a:avLst/>
          </a:prstGeom>
          <a:solidFill>
            <a:srgbClr val="D48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874519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📦倉庫</a:t>
            </a:r>
            <a:br/>
            <a:r>
              <a:t>+2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E2C1C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1828800"/>
            <a:ext cx="1417320" cy="8686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1874519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🏪商店</a:t>
            </a:r>
            <a:br/>
            <a:r>
              <a:t>+1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E2C1C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1828800"/>
            <a:ext cx="1417320" cy="86868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1874519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💰金錢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291840"/>
            <a:ext cx="1783080" cy="320040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383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48B3B"/>
                </a:solidFill>
                <a:latin typeface="Microsoft JhengHei"/>
              </a:defRPr>
            </a:pPr>
            <a:r>
              <a:t>🎓 人力流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3749039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8種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11480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E2C1C"/>
                </a:solidFill>
                <a:latin typeface="Microsoft JhengHei"/>
              </a:defRPr>
            </a:pPr>
            <a:r>
              <a:t>人材產生/消耗/儲存</a:t>
            </a:r>
            <a:br/>
            <a:r>
              <a:t>來放大資源數值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12848" y="3291840"/>
            <a:ext cx="1783080" cy="320040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58568" y="3383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48B3B"/>
                </a:solidFill>
                <a:latin typeface="Microsoft JhengHei"/>
              </a:defRPr>
            </a:pPr>
            <a:r>
              <a:t>🔄 物流流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58568" y="3749039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7種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58568" y="411480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E2C1C"/>
                </a:solidFill>
                <a:latin typeface="Microsoft JhengHei"/>
              </a:defRPr>
            </a:pPr>
            <a:r>
              <a:t>路徑越長加成越高</a:t>
            </a:r>
            <a:br/>
            <a:r>
              <a:t>轉向/加速/放大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51376" y="3291840"/>
            <a:ext cx="1783080" cy="320040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97096" y="3383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48B3B"/>
                </a:solidFill>
                <a:latin typeface="Microsoft JhengHei"/>
              </a:defRPr>
            </a:pPr>
            <a:r>
              <a:t>⚓ 貿易流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97096" y="3749039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7種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97096" y="411480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E2C1C"/>
                </a:solidFill>
                <a:latin typeface="Microsoft JhengHei"/>
              </a:defRPr>
            </a:pPr>
            <a:r>
              <a:t>匯率/期貨/清倉</a:t>
            </a:r>
            <a:br/>
            <a:r>
              <a:t>貿易套利策略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9904" y="3291840"/>
            <a:ext cx="1783080" cy="320040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3383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48B3B"/>
                </a:solidFill>
                <a:latin typeface="Microsoft JhengHei"/>
              </a:defRPr>
            </a:pPr>
            <a:r>
              <a:t>💣 拆遷流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5624" y="3749039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8種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35624" y="411480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E2C1C"/>
                </a:solidFill>
                <a:latin typeface="Microsoft JhengHei"/>
              </a:defRPr>
            </a:pPr>
            <a:r>
              <a:t>破壞設施換取</a:t>
            </a:r>
            <a:br/>
            <a:r>
              <a:t>爆發性收益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28432" y="3291840"/>
            <a:ext cx="1783080" cy="320040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4152" y="3383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48B3B"/>
                </a:solidFill>
                <a:latin typeface="Microsoft JhengHei"/>
              </a:defRPr>
            </a:pPr>
            <a:r>
              <a:t>🛍️ 商店系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74152" y="3749039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4種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74152" y="411480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E2C1C"/>
                </a:solidFill>
                <a:latin typeface="Microsoft JhengHei"/>
              </a:defRPr>
            </a:pPr>
            <a:r>
              <a:t>進階商店</a:t>
            </a:r>
            <a:br/>
            <a:r>
              <a:t>百貨公司佔2×2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66960" y="3291840"/>
            <a:ext cx="1783080" cy="320040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12680" y="3383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48B3B"/>
                </a:solidFill>
                <a:latin typeface="Microsoft JhengHei"/>
              </a:defRPr>
            </a:pPr>
            <a:r>
              <a:t>✨ 特殊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3749039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4種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12680" y="411480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E2C1C"/>
                </a:solidFill>
                <a:latin typeface="Microsoft JhengHei"/>
              </a:defRPr>
            </a:pPr>
            <a:r>
              <a:t>嫉妒工廠(💎×12)</a:t>
            </a:r>
            <a:br/>
            <a:r>
              <a:t>方向/稅務/貿易代理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資源轉換路徑設計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8B3B"/>
                </a:solidFill>
                <a:latin typeface="Microsoft JhengHei"/>
              </a:defRPr>
            </a:pPr>
            <a:r>
              <a:t>🗺️ 路徑策略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0">
                <a:solidFill>
                  <a:srgbClr val="3E2C1C"/>
                </a:solidFill>
                <a:latin typeface="Microsoft JhengHei"/>
              </a:defRPr>
            </a:pPr>
            <a:r>
              <a:t>資源從邊緣投入，沿直線前進</a:t>
            </a:r>
          </a:p>
          <a:p>
            <a:pPr>
              <a:spcAft>
                <a:spcPts val="540"/>
              </a:spcAft>
              <a:defRPr sz="1800" b="0">
                <a:solidFill>
                  <a:srgbClr val="3E2C1C"/>
                </a:solidFill>
                <a:latin typeface="Microsoft JhengHei"/>
              </a:defRPr>
            </a:pPr>
            <a:r>
              <a:t>設施排列順序 = 轉換路徑</a:t>
            </a:r>
          </a:p>
          <a:p>
            <a:pPr>
              <a:spcAft>
                <a:spcPts val="540"/>
              </a:spcAft>
              <a:defRPr sz="1800" b="0">
                <a:solidFill>
                  <a:srgbClr val="3E2C1C"/>
                </a:solidFill>
                <a:latin typeface="Microsoft JhengHei"/>
              </a:defRPr>
            </a:pPr>
            <a:r>
              <a:t>物流方向設施可改變走向</a:t>
            </a:r>
          </a:p>
          <a:p>
            <a:pPr>
              <a:spcAft>
                <a:spcPts val="540"/>
              </a:spcAft>
              <a:defRPr sz="1800" b="0">
                <a:solidFill>
                  <a:srgbClr val="3E2C1C"/>
                </a:solidFill>
                <a:latin typeface="Microsoft JhengHei"/>
              </a:defRPr>
            </a:pPr>
            <a:r>
              <a:t>增幅器/物流放大器疊加增值</a:t>
            </a:r>
          </a:p>
          <a:p>
            <a:pPr>
              <a:spcAft>
                <a:spcPts val="540"/>
              </a:spcAft>
              <a:defRPr sz="1800" b="0">
                <a:solidFill>
                  <a:srgbClr val="3E2C1C"/>
                </a:solidFill>
                <a:latin typeface="Microsoft JhengHei"/>
              </a:defRPr>
            </a:pPr>
            <a:r>
              <a:t>核心：讓資源多經過有效設施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502920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8B3B"/>
                </a:solidFill>
                <a:latin typeface="Microsoft JhengHei"/>
              </a:defRPr>
            </a:pPr>
            <a:r>
              <a:t>💎 鑽石路線（高風險高報酬）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0">
                <a:solidFill>
                  <a:srgbClr val="3E2C1C"/>
                </a:solidFill>
                <a:latin typeface="Microsoft JhengHei"/>
              </a:defRPr>
            </a:pPr>
            <a:r>
              <a:t>嫉妒惡魔 → 解鎖嫉妒工廠</a:t>
            </a:r>
          </a:p>
          <a:p>
            <a:pPr>
              <a:spcAft>
                <a:spcPts val="540"/>
              </a:spcAft>
              <a:defRPr sz="1800" b="0">
                <a:solidFill>
                  <a:srgbClr val="3E2C1C"/>
                </a:solidFill>
                <a:latin typeface="Microsoft JhengHei"/>
              </a:defRPr>
            </a:pPr>
            <a:r>
              <a:t>金錢 → 鑽石（嫉妒工廠）</a:t>
            </a:r>
          </a:p>
          <a:p>
            <a:pPr>
              <a:spcAft>
                <a:spcPts val="540"/>
              </a:spcAft>
              <a:defRPr sz="1800" b="0">
                <a:solidFill>
                  <a:srgbClr val="3E2C1C"/>
                </a:solidFill>
                <a:latin typeface="Microsoft JhengHei"/>
              </a:defRPr>
            </a:pPr>
            <a:r>
              <a:t>鑽石經商店 → ×12 倍收益！</a:t>
            </a:r>
          </a:p>
          <a:p>
            <a:pPr>
              <a:spcAft>
                <a:spcPts val="540"/>
              </a:spcAft>
              <a:defRPr sz="1800" b="0">
                <a:solidFill>
                  <a:srgbClr val="3E2C1C"/>
                </a:solidFill>
                <a:latin typeface="Microsoft JhengHei"/>
              </a:defRPr>
            </a:pPr>
            <a:r>
              <a:t>風險：非鑽石進入 → 收益 -50%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合夥人系統 — 30 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157984" cy="32004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😈 惡魔系 (10位)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19751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正面+負面並存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貪婪:+50%收益/+50%目標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傲慢:壓制惡魔負面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15184" y="1280160"/>
            <a:ext cx="2157984" cy="3200400"/>
          </a:xfrm>
          <a:prstGeom prst="roundRect">
            <a:avLst/>
          </a:prstGeom>
          <a:solidFill>
            <a:srgbClr val="4C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06624" y="1371600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⛏️ 基礎系 (3位)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6624" y="1920240"/>
            <a:ext cx="19751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穩定+1加成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原料商/商店老闆/工廠主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無負面效果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6048" y="1280160"/>
            <a:ext cx="2157984" cy="320040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1371600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🎓 人力流 (4位)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1920240"/>
            <a:ext cx="19751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圍繞人材策略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工會:3+人材→+50%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總監:全用每個+15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912" y="1280160"/>
            <a:ext cx="2157984" cy="3200400"/>
          </a:xfrm>
          <a:prstGeom prst="roundRect">
            <a:avLst/>
          </a:prstGeom>
          <a:solidFill>
            <a:srgbClr val="D48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88352" y="1371600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🚢 物流流 (4位)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1920240"/>
            <a:ext cx="19751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強化路徑收益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大亨:通過物流+3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達人:4+格+10%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37776" y="1280160"/>
            <a:ext cx="2157984" cy="3200400"/>
          </a:xfrm>
          <a:prstGeom prst="round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9216" y="1371600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💹 貿易流 (3位)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1920240"/>
            <a:ext cx="19751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匯率套利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套利者:金→商→金+20%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壟斷者:3商店+5%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754880"/>
            <a:ext cx="11612880" cy="182880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8B3B"/>
                </a:solidFill>
                <a:latin typeface="Microsoft JhengHei"/>
              </a:defRPr>
            </a:pPr>
            <a:r>
              <a:t>🌟 獨特合夥人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03520"/>
            <a:ext cx="1737360" cy="10972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349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👩‍💼 譚雅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715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48B3B"/>
                </a:solidFill>
                <a:latin typeface="Microsoft JhengHei"/>
              </a:defRPr>
            </a:pPr>
            <a:r>
              <a:t>手牌交換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77440" y="5303520"/>
            <a:ext cx="1737360" cy="10972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23160" y="5349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👩‍🔧 蕾雅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5715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48B3B"/>
                </a:solidFill>
                <a:latin typeface="Microsoft JhengHei"/>
              </a:defRPr>
            </a:pPr>
            <a:r>
              <a:t>設施升級+2%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5303520"/>
            <a:ext cx="1737360" cy="10972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5349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🚛 阿北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715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48B3B"/>
                </a:solidFill>
                <a:latin typeface="Microsoft JhengHei"/>
              </a:defRPr>
            </a:pPr>
            <a:r>
              <a:t>轉向+輸出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303520"/>
            <a:ext cx="1737360" cy="10972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5349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🎖 市長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715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48B3B"/>
                </a:solidFill>
                <a:latin typeface="Microsoft JhengHei"/>
              </a:defRPr>
            </a:pPr>
            <a:r>
              <a:t>中央格+5%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5303520"/>
            <a:ext cx="1737360" cy="10972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80" y="5349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🏗 大地主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5715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48B3B"/>
                </a:solidFill>
                <a:latin typeface="Microsoft JhengHei"/>
              </a:defRPr>
            </a:pPr>
            <a:r>
              <a:t>地圖→5×5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0" y="5303520"/>
            <a:ext cx="1737360" cy="10972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04120" y="5349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💣 設施破壞者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5715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48B3B"/>
                </a:solidFill>
                <a:latin typeface="Microsoft JhengHei"/>
              </a:defRPr>
            </a:pPr>
            <a:r>
              <a:t>消滅+50收益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事件系統 — 19 種隨機事件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11612880" cy="128016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D48B3B"/>
                </a:solidFill>
                <a:latin typeface="Microsoft JhengHei"/>
              </a:defRPr>
            </a:pPr>
            <a:r>
              <a:t>每 3 回合觸發 1 次  ·  觸發前藍色預告  ·  加權隨機抽選  ·  莫菲定律懲罰固定策略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834640"/>
            <a:ext cx="3703320" cy="3749039"/>
          </a:xfrm>
          <a:prstGeom prst="roundRect">
            <a:avLst/>
          </a:prstGeom>
          <a:solidFill>
            <a:srgbClr val="4C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9260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🎁 正面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383280"/>
            <a:ext cx="3429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設施補給：3選1</a:t>
            </a:r>
          </a:p>
          <a:p>
            <a:pPr>
              <a:spcAft>
                <a:spcPts val="45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原料出口熱：×2</a:t>
            </a:r>
          </a:p>
          <a:p>
            <a:pPr>
              <a:spcAft>
                <a:spcPts val="45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商品熱銷：+2</a:t>
            </a:r>
          </a:p>
          <a:p>
            <a:pPr>
              <a:spcAft>
                <a:spcPts val="45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譚雅禮物：+10</a:t>
            </a:r>
          </a:p>
          <a:p>
            <a:pPr>
              <a:spcAft>
                <a:spcPts val="45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蕾雅禮物：永久+5</a:t>
            </a:r>
          </a:p>
          <a:p>
            <a:pPr>
              <a:spcAft>
                <a:spcPts val="45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就業輔助：+20%目標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2834640"/>
            <a:ext cx="3703320" cy="3749039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9260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⚠️ 負面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383280"/>
            <a:ext cx="3429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原料大降：÷2</a:t>
            </a:r>
          </a:p>
          <a:p>
            <a:pPr>
              <a:spcAft>
                <a:spcPts val="45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颱風：方向限制</a:t>
            </a:r>
          </a:p>
          <a:p>
            <a:pPr>
              <a:spcAft>
                <a:spcPts val="45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叛亂：消滅角落設施</a:t>
            </a:r>
          </a:p>
          <a:p>
            <a:pPr>
              <a:spcAft>
                <a:spcPts val="45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危險廢棄物：放炸彈</a:t>
            </a:r>
          </a:p>
          <a:p>
            <a:pPr>
              <a:spcAft>
                <a:spcPts val="45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運輸異常：物流失效</a:t>
            </a:r>
          </a:p>
          <a:p>
            <a:pPr>
              <a:spcAft>
                <a:spcPts val="45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勞工保險：-人材×2%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834640"/>
            <a:ext cx="3703320" cy="3749039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9260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🔀 中性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3383280"/>
            <a:ext cx="3429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地震：設施滑動</a:t>
            </a:r>
          </a:p>
          <a:p>
            <a:pPr>
              <a:spcAft>
                <a:spcPts val="45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行業熱潮：±10%行</a:t>
            </a:r>
          </a:p>
          <a:p>
            <a:pPr>
              <a:spcAft>
                <a:spcPts val="45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區域效應：±10%列</a:t>
            </a:r>
          </a:p>
          <a:p>
            <a:pPr>
              <a:spcAft>
                <a:spcPts val="45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地塊共鳴：±10%區域</a:t>
            </a:r>
          </a:p>
          <a:p>
            <a:pPr>
              <a:spcAft>
                <a:spcPts val="45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莫菲定律：全打亂</a:t>
            </a:r>
          </a:p>
          <a:p>
            <a:pPr>
              <a:spcAft>
                <a:spcPts val="45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平靜的一天：無事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動態難度 &amp; 行動選項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5669280" cy="530352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8B3B"/>
                </a:solidFill>
                <a:latin typeface="Microsoft JhengHei"/>
              </a:defRPr>
            </a:pPr>
            <a:r>
              <a:t>📊 動態難度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1">
                <a:solidFill>
                  <a:srgbClr val="3E2C1C"/>
                </a:solidFill>
                <a:latin typeface="Microsoft JhengHei"/>
              </a:defRPr>
            </a:pPr>
            <a:r>
              <a:t>自動適應玩家實力</a:t>
            </a:r>
          </a:p>
          <a:p>
            <a:pPr>
              <a:spcAft>
                <a:spcPts val="480"/>
              </a:spcAft>
              <a:defRPr sz="1600" b="0">
                <a:solidFill>
                  <a:srgbClr val="3E2C1C"/>
                </a:solidFill>
                <a:latin typeface="Microsoft JhengHei"/>
              </a:defRPr>
            </a:pPr>
            <a:r>
              <a:t>倍率範圍：0.6 ~ 2.5</a:t>
            </a:r>
          </a:p>
          <a:p>
            <a:pPr>
              <a:spcAft>
                <a:spcPts val="480"/>
              </a:spcAft>
              <a:defRPr sz="1600" b="0">
                <a:solidFill>
                  <a:srgbClr val="3E2C1C"/>
                </a:solidFill>
                <a:latin typeface="Microsoft Jheng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C0392B"/>
                </a:solidFill>
                <a:latin typeface="Microsoft JhengHei"/>
              </a:defRPr>
            </a:pPr>
            <a:r>
              <a:t>⬆️ 上升條件</a:t>
            </a:r>
          </a:p>
          <a:p>
            <a:pPr>
              <a:spcAft>
                <a:spcPts val="480"/>
              </a:spcAft>
              <a:defRPr sz="1600" b="0">
                <a:solidFill>
                  <a:srgbClr val="3E2C1C"/>
                </a:solidFill>
                <a:latin typeface="Microsoft JhengHei"/>
              </a:defRPr>
            </a:pPr>
            <a:r>
              <a:t>≤2 回合達標 → +25%</a:t>
            </a:r>
          </a:p>
          <a:p>
            <a:pPr>
              <a:spcAft>
                <a:spcPts val="480"/>
              </a:spcAft>
              <a:defRPr sz="1600" b="0">
                <a:solidFill>
                  <a:srgbClr val="3E2C1C"/>
                </a:solidFill>
                <a:latin typeface="Microsoft JhengHei"/>
              </a:defRPr>
            </a:pPr>
            <a:r>
              <a:t>連續瞬殺 → 額外 +10~20%</a:t>
            </a:r>
          </a:p>
          <a:p>
            <a:pPr>
              <a:spcAft>
                <a:spcPts val="480"/>
              </a:spcAft>
              <a:defRPr sz="1600" b="0">
                <a:solidFill>
                  <a:srgbClr val="3E2C1C"/>
                </a:solidFill>
                <a:latin typeface="Microsoft JhengHei"/>
              </a:defRPr>
            </a:pPr>
            <a:r>
              <a:t>收益 ≥3 倍目標 → +15%</a:t>
            </a:r>
          </a:p>
          <a:p>
            <a:pPr>
              <a:spcAft>
                <a:spcPts val="480"/>
              </a:spcAft>
              <a:defRPr sz="1600" b="0">
                <a:solidFill>
                  <a:srgbClr val="3E2C1C"/>
                </a:solidFill>
                <a:latin typeface="Microsoft Jheng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4C8C4A"/>
                </a:solidFill>
                <a:latin typeface="Microsoft JhengHei"/>
              </a:defRPr>
            </a:pPr>
            <a:r>
              <a:t>⬇️ 下降條件</a:t>
            </a:r>
          </a:p>
          <a:p>
            <a:pPr>
              <a:spcAft>
                <a:spcPts val="480"/>
              </a:spcAft>
              <a:defRPr sz="1600" b="0">
                <a:solidFill>
                  <a:srgbClr val="3E2C1C"/>
                </a:solidFill>
                <a:latin typeface="Microsoft JhengHei"/>
              </a:defRPr>
            </a:pPr>
            <a:r>
              <a:t>&gt;8 回合達標 → -8%</a:t>
            </a:r>
          </a:p>
          <a:p>
            <a:pPr>
              <a:spcAft>
                <a:spcPts val="480"/>
              </a:spcAft>
              <a:defRPr sz="1600" b="0">
                <a:solidFill>
                  <a:srgbClr val="3E2C1C"/>
                </a:solidFill>
                <a:latin typeface="Microsoft JhengHei"/>
              </a:defRPr>
            </a:pPr>
            <a:r>
              <a:t>失敗重開 → 完全重置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669280" cy="530352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8B3B"/>
                </a:solidFill>
                <a:latin typeface="Microsoft JhengHei"/>
              </a:defRPr>
            </a:pPr>
            <a:r>
              <a:t>🎬 行動選項（每回合 2 選 1）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303520" cy="50292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🏗 購買設施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057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Microsoft JhengHe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E2C1C"/>
                </a:solidFill>
                <a:latin typeface="Microsoft JhengHei"/>
              </a:defRPr>
            </a:pPr>
            <a:r>
              <a:t>3 選 1 加入手牌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578608"/>
            <a:ext cx="5303520" cy="50292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24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⚡ 觸發事件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2432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6243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E2C1C"/>
                </a:solidFill>
                <a:latin typeface="Microsoft JhengHei"/>
              </a:defRPr>
            </a:pPr>
            <a:r>
              <a:t>立即觸發隨機事件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145536"/>
            <a:ext cx="5303520" cy="50292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1912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🔧 重新排列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19125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1912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E2C1C"/>
                </a:solidFill>
                <a:latin typeface="Microsoft JhengHei"/>
              </a:defRPr>
            </a:pPr>
            <a:r>
              <a:t>自由移動所有設施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712464"/>
            <a:ext cx="5303520" cy="50292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7581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🤝 招募合夥人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75818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Microsoft JhengHe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7581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E2C1C"/>
                </a:solidFill>
                <a:latin typeface="Microsoft JhengHei"/>
              </a:defRPr>
            </a:pPr>
            <a:r>
              <a:t>3 選 1 招募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279392"/>
            <a:ext cx="5303520" cy="50292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3251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⬆ 提升數值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3251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3251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E2C1C"/>
                </a:solidFill>
                <a:latin typeface="Microsoft JhengHei"/>
              </a:defRPr>
            </a:pPr>
            <a:r>
              <a:t>設施永久 +1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846320"/>
            <a:ext cx="5303520" cy="50292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892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✨ 輸出加成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892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E2C1C"/>
                </a:solidFill>
                <a:latin typeface="Microsoft JhengHei"/>
              </a:defRPr>
            </a:pPr>
            <a:r>
              <a:t>下次特定類型 +3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413248"/>
            <a:ext cx="5303520" cy="50292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4589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🔄 更換事件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45896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Microsoft JhengHei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54589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E2C1C"/>
                </a:solidFill>
                <a:latin typeface="Microsoft JhengHei"/>
              </a:defRPr>
            </a:pPr>
            <a:r>
              <a:t>重抽預告事件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980176"/>
            <a:ext cx="5303520" cy="50292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60258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E2C1C"/>
                </a:solidFill>
                <a:latin typeface="Microsoft JhengHei"/>
              </a:defRPr>
            </a:pPr>
            <a:r>
              <a:t>😴 跳過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02589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Microsoft JhengHei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60258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E2C1C"/>
                </a:solidFill>
                <a:latin typeface="Microsoft JhengHei"/>
              </a:defRPr>
            </a:pPr>
            <a:r>
              <a:t>不行動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UI 介面設計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286000" cy="502920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8B3B"/>
                </a:solidFill>
                <a:latin typeface="Microsoft JhengHei"/>
              </a:defRPr>
            </a:pPr>
            <a:r>
              <a:t>📋 左欄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 b="0">
                <a:solidFill>
                  <a:srgbClr val="3E2C1C"/>
                </a:solidFill>
                <a:latin typeface="Microsoft JhengHei"/>
              </a:defRPr>
            </a:pPr>
            <a:r>
              <a:t>🃏 手牌（扇形）</a:t>
            </a:r>
          </a:p>
          <a:p>
            <a:pPr>
              <a:spcAft>
                <a:spcPts val="450"/>
              </a:spcAft>
              <a:defRPr sz="1500" b="0">
                <a:solidFill>
                  <a:srgbClr val="3E2C1C"/>
                </a:solidFill>
                <a:latin typeface="Microsoft JhengHei"/>
              </a:defRPr>
            </a:pPr>
            <a:r>
              <a:t>👥 人材面板</a:t>
            </a:r>
          </a:p>
          <a:p>
            <a:pPr>
              <a:spcAft>
                <a:spcPts val="450"/>
              </a:spcAft>
              <a:defRPr sz="1500" b="0">
                <a:solidFill>
                  <a:srgbClr val="3E2C1C"/>
                </a:solidFill>
                <a:latin typeface="Microsoft JhengHei"/>
              </a:defRPr>
            </a:pPr>
            <a:r>
              <a:t>🤝 合夥人</a:t>
            </a:r>
          </a:p>
          <a:p>
            <a:pPr>
              <a:spcAft>
                <a:spcPts val="450"/>
              </a:spcAft>
              <a:defRPr sz="1500" b="0">
                <a:solidFill>
                  <a:srgbClr val="3E2C1C"/>
                </a:solidFill>
                <a:latin typeface="Microsoft JhengHei"/>
              </a:defRPr>
            </a:pPr>
            <a:r>
              <a:t>💡 提示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371600"/>
            <a:ext cx="5943600" cy="502920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4630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8B3B"/>
                </a:solidFill>
                <a:latin typeface="Microsoft JhengHei"/>
              </a:defRPr>
            </a:pPr>
            <a:r>
              <a:t>🏘️ 4×4 格子小鎮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286000"/>
            <a:ext cx="914400" cy="8686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23317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E2C1C"/>
                </a:solidFill>
                <a:latin typeface="Microsoft JhengHei"/>
              </a:defRPr>
            </a:pPr>
            <a:r>
              <a:t>⛏️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286000"/>
            <a:ext cx="914400" cy="8686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3317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E2C1C"/>
                </a:solidFill>
                <a:latin typeface="Microsoft JhengHei"/>
              </a:defRPr>
            </a:pPr>
            <a:r>
              <a:t>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286000"/>
            <a:ext cx="914400" cy="8686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23317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E2C1C"/>
                </a:solidFill>
                <a:latin typeface="Microsoft JhengHei"/>
              </a:defRPr>
            </a:pPr>
            <a:r>
              <a:t>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286000"/>
            <a:ext cx="914400" cy="8686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3317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E2C1C"/>
                </a:solidFill>
                <a:latin typeface="Microsoft JhengHei"/>
              </a:defRPr>
            </a:pPr>
            <a:r>
              <a:t>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3246120"/>
            <a:ext cx="914400" cy="8686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7760" y="3246120"/>
            <a:ext cx="914400" cy="8686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329184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E2C1C"/>
                </a:solidFill>
                <a:latin typeface="Microsoft JhengHei"/>
              </a:defRPr>
            </a:pPr>
            <a:r>
              <a:t>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246120"/>
            <a:ext cx="914400" cy="8686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49440" y="3246120"/>
            <a:ext cx="914400" cy="8686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329184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E2C1C"/>
                </a:solidFill>
                <a:latin typeface="Microsoft JhengHei"/>
              </a:defRPr>
            </a:pPr>
            <a:r>
              <a:t>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4206240"/>
            <a:ext cx="914400" cy="8686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425196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E2C1C"/>
                </a:solidFill>
                <a:latin typeface="Microsoft JhengHei"/>
              </a:defRPr>
            </a:pPr>
            <a:r>
              <a:t>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4206240"/>
            <a:ext cx="914400" cy="8686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0" y="4206240"/>
            <a:ext cx="914400" cy="8686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425196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E2C1C"/>
                </a:solidFill>
                <a:latin typeface="Microsoft JhengHei"/>
              </a:defRPr>
            </a:pPr>
            <a:r>
              <a:t>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4206240"/>
            <a:ext cx="914400" cy="8686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931920" y="5166360"/>
            <a:ext cx="914400" cy="8686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37760" y="5166360"/>
            <a:ext cx="914400" cy="8686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521208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E2C1C"/>
                </a:solidFill>
                <a:latin typeface="Microsoft JhengHei"/>
              </a:defRPr>
            </a:pPr>
            <a:r>
              <a:t>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5166360"/>
            <a:ext cx="914400" cy="8686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49440" y="5166360"/>
            <a:ext cx="914400" cy="86868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521208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E2C1C"/>
                </a:solidFill>
                <a:latin typeface="Microsoft JhengHei"/>
              </a:defRPr>
            </a:pPr>
            <a:r>
              <a:t>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192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E6B9E"/>
                </a:solidFill>
                <a:latin typeface="Microsoft JhengHei"/>
              </a:defRPr>
            </a:pPr>
            <a:r>
              <a:t>⬇️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E6B9E"/>
                </a:solidFill>
                <a:latin typeface="Microsoft JhengHei"/>
              </a:defRPr>
            </a:pPr>
            <a:r>
              <a:t>➡️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1371600"/>
            <a:ext cx="2560320" cy="502920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8B3B"/>
                </a:solidFill>
                <a:latin typeface="Microsoft JhengHei"/>
              </a:defRPr>
            </a:pPr>
            <a:r>
              <a:t>📊 右欄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01168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 b="0">
                <a:solidFill>
                  <a:srgbClr val="3E2C1C"/>
                </a:solidFill>
                <a:latin typeface="Microsoft JhengHei"/>
              </a:defRPr>
            </a:pPr>
            <a:r>
              <a:t>💰 本次收益</a:t>
            </a:r>
          </a:p>
          <a:p>
            <a:pPr>
              <a:spcAft>
                <a:spcPts val="450"/>
              </a:spcAft>
              <a:defRPr sz="1500" b="0">
                <a:solidFill>
                  <a:srgbClr val="3E2C1C"/>
                </a:solidFill>
                <a:latin typeface="Microsoft JhengHei"/>
              </a:defRPr>
            </a:pPr>
            <a:r>
              <a:t>📜 回合記錄</a:t>
            </a:r>
          </a:p>
          <a:p>
            <a:pPr>
              <a:spcAft>
                <a:spcPts val="450"/>
              </a:spcAft>
              <a:defRPr sz="1500" b="0">
                <a:solidFill>
                  <a:srgbClr val="3E2C1C"/>
                </a:solidFill>
                <a:latin typeface="Microsoft JhengHei"/>
              </a:defRPr>
            </a:pPr>
            <a:r>
              <a:t>🔚 結束回合</a:t>
            </a:r>
          </a:p>
          <a:p>
            <a:pPr>
              <a:spcAft>
                <a:spcPts val="450"/>
              </a:spcAft>
              <a:defRPr sz="1500" b="0">
                <a:solidFill>
                  <a:srgbClr val="3E2C1C"/>
                </a:solidFill>
                <a:latin typeface="Microsoft JhengHei"/>
              </a:defRPr>
            </a:pPr>
            <a:r>
              <a:t>👤 角色立繪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設計特色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2157984" cy="411480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1975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🔄 資源流動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0"/>
            <a:ext cx="197510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JhengHei"/>
              </a:defRPr>
            </a:pPr>
            <a:r>
              <a:t>金錢→原料→商品→金錢</a:t>
            </a:r>
          </a:p>
          <a:p>
            <a:pPr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JhengHei"/>
              </a:defRPr>
            </a:pPr>
            <a:r>
              <a:t>設計最佳轉換路徑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15184" y="1645920"/>
            <a:ext cx="2157984" cy="4114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06624" y="1828800"/>
            <a:ext cx="1975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⚖️ 風險報酬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6624" y="2560320"/>
            <a:ext cx="197510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JhengHei"/>
              </a:defRPr>
            </a:pPr>
            <a:r>
              <a:t>惡魔雙面刃 + 鑽石×12</a:t>
            </a:r>
          </a:p>
          <a:p>
            <a:pPr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JhengHei"/>
              </a:defRPr>
            </a:pPr>
            <a:r>
              <a:t>高風險高回報選擇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6048" y="1645920"/>
            <a:ext cx="2157984" cy="4114800"/>
          </a:xfrm>
          <a:prstGeom prst="roundRect">
            <a:avLst/>
          </a:prstGeom>
          <a:solidFill>
            <a:srgbClr val="D48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1828800"/>
            <a:ext cx="1975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🎲 隨機應變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560320"/>
            <a:ext cx="197510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JhengHei"/>
              </a:defRPr>
            </a:pPr>
            <a:r>
              <a:t>19 事件 + 莫菲定律</a:t>
            </a:r>
          </a:p>
          <a:p>
            <a:pPr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JhengHei"/>
              </a:defRPr>
            </a:pPr>
            <a:r>
              <a:t>動態難度每局不同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912" y="1645920"/>
            <a:ext cx="2157984" cy="4114800"/>
          </a:xfrm>
          <a:prstGeom prst="roundRect">
            <a:avLst/>
          </a:prstGeom>
          <a:solidFill>
            <a:srgbClr val="4C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88352" y="1828800"/>
            <a:ext cx="1975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🧩 多元流派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2560320"/>
            <a:ext cx="197510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JhengHei"/>
              </a:defRPr>
            </a:pPr>
            <a:r>
              <a:t>人力/物流/貿易/拆遷</a:t>
            </a:r>
          </a:p>
          <a:p>
            <a:pPr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JhengHei"/>
              </a:defRPr>
            </a:pPr>
            <a:r>
              <a:t>4 大流派多樣玩法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37776" y="1645920"/>
            <a:ext cx="2157984" cy="4114800"/>
          </a:xfrm>
          <a:prstGeom prst="round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9216" y="1828800"/>
            <a:ext cx="1975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📈 成長深度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2560320"/>
            <a:ext cx="197510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JhengHei"/>
              </a:defRPr>
            </a:pPr>
            <a:r>
              <a:t>目標遞增 + 設施升級</a:t>
            </a:r>
          </a:p>
          <a:p>
            <a:pPr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JhengHei"/>
              </a:defRPr>
            </a:pPr>
            <a:r>
              <a:t>合夥人組合策略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943600"/>
            <a:ext cx="11612880" cy="640080"/>
          </a:xfrm>
          <a:prstGeom prst="roundRect">
            <a:avLst/>
          </a:prstGeom>
          <a:solidFill>
            <a:srgbClr val="EED9B8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E2C1C"/>
                </a:solidFill>
                <a:latin typeface="Microsoft JhengHei"/>
              </a:defRPr>
            </a:pPr>
            <a:r>
              <a:t>純 Vanilla JS 單檔架構  ·  暖色牛皮紙風格  ·  拖曳+扇形手牌  ·  114 條角色台詞  ·  自動存檔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5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2011680"/>
            <a:ext cx="8503920" cy="2743200"/>
          </a:xfrm>
          <a:prstGeom prst="roundRect">
            <a:avLst/>
          </a:prstGeom>
          <a:solidFill>
            <a:srgbClr val="FAF0E0"/>
          </a:solidFill>
          <a:ln w="19050">
            <a:solidFill>
              <a:srgbClr val="D4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228600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E2C1C"/>
                </a:solidFill>
                <a:latin typeface="Microsoft JhengHei"/>
              </a:defRPr>
            </a:pPr>
            <a:r>
              <a:t>🏘️ 創業小鎮 VentureTown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D48B3B"/>
                </a:solidFill>
                <a:latin typeface="Microsoft JhengHe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E2C1C"/>
                </a:solidFill>
                <a:latin typeface="Microsoft JhengHei"/>
              </a:defRPr>
            </a:pPr>
            <a:r>
              <a:t>50 設施  ·  30 合夥人  ·  19 事件  ·  4 流派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